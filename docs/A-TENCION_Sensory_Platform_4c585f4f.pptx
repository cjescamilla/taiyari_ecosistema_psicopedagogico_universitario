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405384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253365" y="2216150"/>
            <a:ext cx="3547110" cy="152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788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4788" dirty="0"/>
          </a:p>
        </p:txBody>
      </p:sp>
      <p:sp>
        <p:nvSpPr>
          <p:cNvPr id="4" name="Text 2"/>
          <p:cNvSpPr txBox="1"/>
          <p:nvPr/>
        </p:nvSpPr>
        <p:spPr>
          <a:xfrm>
            <a:off x="253365" y="3841750"/>
            <a:ext cx="3547110" cy="571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Puente hacia el Bienestar Sensorial</a:t>
            </a:r>
            <a:endParaRPr lang="en-US" sz="1795" dirty="0"/>
          </a:p>
        </p:txBody>
      </p:sp>
      <p:sp>
        <p:nvSpPr>
          <p:cNvPr id="5" name="Text 3"/>
          <p:cNvSpPr txBox="1"/>
          <p:nvPr/>
        </p:nvSpPr>
        <p:spPr>
          <a:xfrm>
            <a:off x="820269" y="4489450"/>
            <a:ext cx="24133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i="1" dirty="0">
                <a:solidFill>
                  <a:srgbClr val="9B7F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  <p:sp>
        <p:nvSpPr>
          <p:cNvPr id="6" name="Text 4"/>
          <p:cNvSpPr txBox="1"/>
          <p:nvPr/>
        </p:nvSpPr>
        <p:spPr>
          <a:xfrm>
            <a:off x="1206651" y="4794250"/>
            <a:ext cx="1640538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97" dirty="0">
                <a:solidFill>
                  <a:srgbClr val="64748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Proyecto de Grado 2025</a:t>
            </a:r>
            <a:endParaRPr lang="en-US" sz="1197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26334" b="26334"/>
          <a:stretch/>
        </p:blipFill>
        <p:spPr>
          <a:xfrm>
            <a:off x="4053840" y="0"/>
            <a:ext cx="810768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3211401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¿Qué es A-TENCION?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304038" y="1892300"/>
            <a:ext cx="5472684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Ecosistema digital integral para la regulación sensorial infantil</a:t>
            </a:r>
            <a:endParaRPr lang="en-US" sz="2394" dirty="0"/>
          </a:p>
        </p:txBody>
      </p:sp>
      <p:sp>
        <p:nvSpPr>
          <p:cNvPr id="6" name="Shape 4"/>
          <p:cNvSpPr/>
          <p:nvPr/>
        </p:nvSpPr>
        <p:spPr>
          <a:xfrm>
            <a:off x="304038" y="2806700"/>
            <a:ext cx="2685669" cy="990600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56057" y="2933700"/>
            <a:ext cx="253365" cy="254000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456057" y="3238500"/>
            <a:ext cx="140617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Landing educativa</a:t>
            </a:r>
            <a:endParaRPr lang="en-US" sz="1197" dirty="0"/>
          </a:p>
        </p:txBody>
      </p:sp>
      <p:sp>
        <p:nvSpPr>
          <p:cNvPr id="9" name="Text 6"/>
          <p:cNvSpPr txBox="1"/>
          <p:nvPr/>
        </p:nvSpPr>
        <p:spPr>
          <a:xfrm>
            <a:off x="456057" y="3467100"/>
            <a:ext cx="2299287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Información accesible para familias</a:t>
            </a:r>
            <a:endParaRPr lang="en-US" sz="1197" dirty="0"/>
          </a:p>
        </p:txBody>
      </p:sp>
      <p:sp>
        <p:nvSpPr>
          <p:cNvPr id="10" name="Shape 7"/>
          <p:cNvSpPr/>
          <p:nvPr/>
        </p:nvSpPr>
        <p:spPr>
          <a:xfrm>
            <a:off x="3091053" y="2806700"/>
            <a:ext cx="2685669" cy="990600"/>
          </a:xfrm>
          <a:prstGeom prst="roundRect">
            <a:avLst>
              <a:gd name="adj" fmla="val 1420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243072" y="2933700"/>
            <a:ext cx="253365" cy="254000"/>
          </a:xfrm>
          <a:prstGeom prst="rect">
            <a:avLst/>
          </a:prstGeom>
        </p:spPr>
      </p:pic>
      <p:sp>
        <p:nvSpPr>
          <p:cNvPr id="12" name="Text 8"/>
          <p:cNvSpPr txBox="1"/>
          <p:nvPr/>
        </p:nvSpPr>
        <p:spPr>
          <a:xfrm>
            <a:off x="3243072" y="3238500"/>
            <a:ext cx="1488519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de reservas</a:t>
            </a:r>
            <a:endParaRPr lang="en-US" sz="1197" dirty="0"/>
          </a:p>
        </p:txBody>
      </p:sp>
      <p:sp>
        <p:nvSpPr>
          <p:cNvPr id="13" name="Text 9"/>
          <p:cNvSpPr txBox="1"/>
          <p:nvPr/>
        </p:nvSpPr>
        <p:spPr>
          <a:xfrm>
            <a:off x="3243072" y="3467100"/>
            <a:ext cx="1805226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Agenda y ventas integradas</a:t>
            </a:r>
            <a:endParaRPr lang="en-US" sz="1197" dirty="0"/>
          </a:p>
        </p:txBody>
      </p:sp>
      <p:sp>
        <p:nvSpPr>
          <p:cNvPr id="14" name="Shape 10"/>
          <p:cNvSpPr/>
          <p:nvPr/>
        </p:nvSpPr>
        <p:spPr>
          <a:xfrm>
            <a:off x="304038" y="3898900"/>
            <a:ext cx="2685669" cy="119380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56057" y="4025900"/>
            <a:ext cx="253365" cy="254000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456057" y="4330700"/>
            <a:ext cx="101346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Espacio físico</a:t>
            </a:r>
            <a:endParaRPr lang="en-US" sz="1197" dirty="0"/>
          </a:p>
        </p:txBody>
      </p:sp>
      <p:sp>
        <p:nvSpPr>
          <p:cNvPr id="17" name="Text 12"/>
          <p:cNvSpPr txBox="1"/>
          <p:nvPr/>
        </p:nvSpPr>
        <p:spPr>
          <a:xfrm>
            <a:off x="456057" y="4559300"/>
            <a:ext cx="2381631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Sala sensorial con proyección interactiva</a:t>
            </a:r>
            <a:endParaRPr lang="en-US" sz="1197" dirty="0"/>
          </a:p>
        </p:txBody>
      </p:sp>
      <p:sp>
        <p:nvSpPr>
          <p:cNvPr id="18" name="Shape 13"/>
          <p:cNvSpPr/>
          <p:nvPr/>
        </p:nvSpPr>
        <p:spPr>
          <a:xfrm>
            <a:off x="3091053" y="3898900"/>
            <a:ext cx="2685669" cy="1193800"/>
          </a:xfrm>
          <a:prstGeom prst="roundRect">
            <a:avLst>
              <a:gd name="adj" fmla="val 977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9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3243072" y="4025900"/>
            <a:ext cx="253365" cy="254000"/>
          </a:xfrm>
          <a:prstGeom prst="rect">
            <a:avLst/>
          </a:prstGeom>
        </p:spPr>
      </p:pic>
      <p:sp>
        <p:nvSpPr>
          <p:cNvPr id="20" name="Text 14"/>
          <p:cNvSpPr txBox="1"/>
          <p:nvPr/>
        </p:nvSpPr>
        <p:spPr>
          <a:xfrm>
            <a:off x="3243072" y="4330700"/>
            <a:ext cx="1741884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Perfiles personalizados</a:t>
            </a:r>
            <a:endParaRPr lang="en-US" sz="1197" dirty="0"/>
          </a:p>
        </p:txBody>
      </p:sp>
      <p:sp>
        <p:nvSpPr>
          <p:cNvPr id="21" name="Text 15"/>
          <p:cNvSpPr txBox="1"/>
          <p:nvPr/>
        </p:nvSpPr>
        <p:spPr>
          <a:xfrm>
            <a:off x="3243072" y="4559300"/>
            <a:ext cx="1735550" cy="203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97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Notas sensoriales por niño</a:t>
            </a:r>
            <a:endParaRPr lang="en-US" sz="1197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23003" b="23003"/>
          <a:stretch/>
        </p:blipFill>
        <p:spPr>
          <a:xfrm>
            <a:off x="6080760" y="558800"/>
            <a:ext cx="6080760" cy="5867400"/>
          </a:xfrm>
          <a:prstGeom prst="rect">
            <a:avLst/>
          </a:prstGeom>
        </p:spPr>
      </p:pic>
      <p:sp>
        <p:nvSpPr>
          <p:cNvPr id="23" name="Shape 16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4" name="Text 17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185589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El Problema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253365" y="812800"/>
            <a:ext cx="1165479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i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Las familias enfrentan tres barreras críticas al buscar apoyo sensorial</a:t>
            </a:r>
            <a:endParaRPr lang="en-US" sz="2394" dirty="0"/>
          </a:p>
        </p:txBody>
      </p:sp>
      <p:sp>
        <p:nvSpPr>
          <p:cNvPr id="6" name="Shape 4"/>
          <p:cNvSpPr/>
          <p:nvPr/>
        </p:nvSpPr>
        <p:spPr>
          <a:xfrm>
            <a:off x="5472684" y="1219200"/>
            <a:ext cx="1216152" cy="25400"/>
          </a:xfrm>
          <a:prstGeom prst="rect">
            <a:avLst/>
          </a:prstGeom>
          <a:solidFill>
            <a:srgbClr val="2BBCD4"/>
          </a:solidFill>
          <a:ln/>
        </p:spPr>
      </p:sp>
      <p:sp>
        <p:nvSpPr>
          <p:cNvPr id="7" name="Shape 5"/>
          <p:cNvSpPr/>
          <p:nvPr/>
        </p:nvSpPr>
        <p:spPr>
          <a:xfrm>
            <a:off x="405384" y="1397000"/>
            <a:ext cx="3648456" cy="4775200"/>
          </a:xfrm>
          <a:prstGeom prst="roundRect">
            <a:avLst>
              <a:gd name="adj" fmla="val 1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63500" dir="5400000">
              <a:srgbClr val="000000">
                <a:alpha val="10000"/>
              </a:srgbClr>
            </a:outerShdw>
          </a:effectLst>
        </p:spPr>
      </p:sp>
      <p:sp>
        <p:nvSpPr>
          <p:cNvPr id="8" name="Text 6"/>
          <p:cNvSpPr txBox="1"/>
          <p:nvPr/>
        </p:nvSpPr>
        <p:spPr>
          <a:xfrm>
            <a:off x="608076" y="1600200"/>
            <a:ext cx="32430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9B7F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01</a:t>
            </a:r>
            <a:endParaRPr lang="en-US" sz="2993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608076" y="2082800"/>
            <a:ext cx="405384" cy="406400"/>
          </a:xfrm>
          <a:prstGeom prst="rect">
            <a:avLst/>
          </a:prstGeom>
        </p:spPr>
      </p:pic>
      <p:sp>
        <p:nvSpPr>
          <p:cNvPr id="10" name="Text 7"/>
          <p:cNvSpPr txBox="1"/>
          <p:nvPr/>
        </p:nvSpPr>
        <p:spPr>
          <a:xfrm>
            <a:off x="608076" y="2590800"/>
            <a:ext cx="3243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Padres sin guía</a:t>
            </a:r>
            <a:endParaRPr lang="en-US" sz="1795" dirty="0"/>
          </a:p>
        </p:txBody>
      </p:sp>
      <p:sp>
        <p:nvSpPr>
          <p:cNvPr id="11" name="Text 8"/>
          <p:cNvSpPr txBox="1"/>
          <p:nvPr/>
        </p:nvSpPr>
        <p:spPr>
          <a:xfrm>
            <a:off x="608076" y="2946400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Familias perdidas buscando apoyo sensorial sin saber por dónde empezar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4256532" y="1397000"/>
            <a:ext cx="3648456" cy="4775200"/>
          </a:xfrm>
          <a:prstGeom prst="roundRect">
            <a:avLst>
              <a:gd name="adj" fmla="val 1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63500" dir="5400000">
              <a:srgbClr val="000000">
                <a:alpha val="10000"/>
              </a:srgbClr>
            </a:outerShdw>
          </a:effectLst>
        </p:spPr>
      </p:sp>
      <p:sp>
        <p:nvSpPr>
          <p:cNvPr id="13" name="Text 10"/>
          <p:cNvSpPr txBox="1"/>
          <p:nvPr/>
        </p:nvSpPr>
        <p:spPr>
          <a:xfrm>
            <a:off x="4459224" y="1600200"/>
            <a:ext cx="32430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9B7F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02</a:t>
            </a:r>
            <a:endParaRPr lang="en-US" sz="2993" dirty="0"/>
          </a:p>
        </p:txBody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9224" y="2082800"/>
            <a:ext cx="405384" cy="4064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459224" y="2590800"/>
            <a:ext cx="3243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Información inaccesible</a:t>
            </a:r>
            <a:endParaRPr lang="en-US" sz="1795" dirty="0"/>
          </a:p>
        </p:txBody>
      </p:sp>
      <p:sp>
        <p:nvSpPr>
          <p:cNvPr id="16" name="Text 12"/>
          <p:cNvSpPr txBox="1"/>
          <p:nvPr/>
        </p:nvSpPr>
        <p:spPr>
          <a:xfrm>
            <a:off x="4459224" y="2946400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Terminología técnica y recursos dispersos difíciles de comprender</a:t>
            </a:r>
            <a:endParaRPr lang="en-US" sz="1496" dirty="0"/>
          </a:p>
        </p:txBody>
      </p:sp>
      <p:sp>
        <p:nvSpPr>
          <p:cNvPr id="17" name="Shape 13"/>
          <p:cNvSpPr/>
          <p:nvPr/>
        </p:nvSpPr>
        <p:spPr>
          <a:xfrm>
            <a:off x="8107680" y="1397000"/>
            <a:ext cx="3648456" cy="4775200"/>
          </a:xfrm>
          <a:prstGeom prst="roundRect">
            <a:avLst>
              <a:gd name="adj" fmla="val 106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63500" dir="5400000">
              <a:srgbClr val="000000">
                <a:alpha val="10000"/>
              </a:srgbClr>
            </a:outerShdw>
          </a:effectLst>
        </p:spPr>
      </p:sp>
      <p:sp>
        <p:nvSpPr>
          <p:cNvPr id="18" name="Text 14"/>
          <p:cNvSpPr txBox="1"/>
          <p:nvPr/>
        </p:nvSpPr>
        <p:spPr>
          <a:xfrm>
            <a:off x="8310372" y="1600200"/>
            <a:ext cx="324307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993" b="1" dirty="0">
                <a:solidFill>
                  <a:srgbClr val="9B7F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03</a:t>
            </a:r>
            <a:endParaRPr lang="en-US" sz="2993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310372" y="2082800"/>
            <a:ext cx="405384" cy="406400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8310372" y="2590800"/>
            <a:ext cx="324307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Reservas complicadas</a:t>
            </a:r>
            <a:endParaRPr lang="en-US" sz="1795" dirty="0"/>
          </a:p>
        </p:txBody>
      </p:sp>
      <p:sp>
        <p:nvSpPr>
          <p:cNvPr id="21" name="Text 16"/>
          <p:cNvSpPr txBox="1"/>
          <p:nvPr/>
        </p:nvSpPr>
        <p:spPr>
          <a:xfrm>
            <a:off x="8310372" y="2946400"/>
            <a:ext cx="32430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Sistemas de agendamiento confusos, sin confirmación ni seguimiento</a:t>
            </a:r>
            <a:endParaRPr lang="en-US" sz="1496" dirty="0"/>
          </a:p>
        </p:txBody>
      </p:sp>
      <p:sp>
        <p:nvSpPr>
          <p:cNvPr id="22" name="Shape 17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174821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 Solución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253365" y="2393950"/>
            <a:ext cx="3817300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93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Una experiencia unificada</a:t>
            </a:r>
            <a:endParaRPr lang="en-US" sz="2993" dirty="0"/>
          </a:p>
        </p:txBody>
      </p:sp>
      <p:sp>
        <p:nvSpPr>
          <p:cNvPr id="6" name="Text 4"/>
          <p:cNvSpPr txBox="1"/>
          <p:nvPr/>
        </p:nvSpPr>
        <p:spPr>
          <a:xfrm>
            <a:off x="253365" y="3498850"/>
            <a:ext cx="3817300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 la información a la acción en un solo ecosistema</a:t>
            </a:r>
            <a:endParaRPr lang="en-US" sz="1795" dirty="0"/>
          </a:p>
        </p:txBody>
      </p:sp>
      <p:sp>
        <p:nvSpPr>
          <p:cNvPr id="7" name="Shape 5"/>
          <p:cNvSpPr/>
          <p:nvPr/>
        </p:nvSpPr>
        <p:spPr>
          <a:xfrm>
            <a:off x="1154889" y="4210050"/>
            <a:ext cx="2014252" cy="381000"/>
          </a:xfrm>
          <a:prstGeom prst="roundRect">
            <a:avLst>
              <a:gd name="adj" fmla="val 79992000"/>
            </a:avLst>
          </a:prstGeom>
          <a:solidFill>
            <a:srgbClr val="2BBC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1357581" y="4286250"/>
            <a:ext cx="16088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Plataforma Integral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4273357" y="1968500"/>
            <a:ext cx="7634798" cy="838200"/>
          </a:xfrm>
          <a:prstGeom prst="roundRect">
            <a:avLst>
              <a:gd name="adj" fmla="val 19835"/>
            </a:avLst>
          </a:prstGeom>
          <a:solidFill>
            <a:srgbClr val="FFFFFF"/>
          </a:solidFill>
          <a:ln w="12700">
            <a:solidFill>
              <a:srgbClr val="2BBCD4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0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4450713" y="2184400"/>
            <a:ext cx="405384" cy="406400"/>
          </a:xfrm>
          <a:prstGeom prst="rect">
            <a:avLst/>
          </a:prstGeom>
        </p:spPr>
      </p:pic>
      <p:sp>
        <p:nvSpPr>
          <p:cNvPr id="11" name="Text 8"/>
          <p:cNvSpPr txBox="1"/>
          <p:nvPr/>
        </p:nvSpPr>
        <p:spPr>
          <a:xfrm>
            <a:off x="5008116" y="2120900"/>
            <a:ext cx="560154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Landing Educativa</a:t>
            </a:r>
            <a:endParaRPr lang="en-US" sz="1795" dirty="0"/>
          </a:p>
        </p:txBody>
      </p:sp>
      <p:sp>
        <p:nvSpPr>
          <p:cNvPr id="12" name="Text 9"/>
          <p:cNvSpPr txBox="1"/>
          <p:nvPr/>
        </p:nvSpPr>
        <p:spPr>
          <a:xfrm>
            <a:off x="5008116" y="2425700"/>
            <a:ext cx="56015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Información accesible sobre integración sensorial para familias</a:t>
            </a:r>
            <a:endParaRPr lang="en-US" sz="1496" dirty="0"/>
          </a:p>
        </p:txBody>
      </p:sp>
      <p:sp>
        <p:nvSpPr>
          <p:cNvPr id="13" name="Shape 10"/>
          <p:cNvSpPr/>
          <p:nvPr/>
        </p:nvSpPr>
        <p:spPr>
          <a:xfrm>
            <a:off x="10761678" y="2222500"/>
            <a:ext cx="994458" cy="330200"/>
          </a:xfrm>
          <a:prstGeom prst="roundRect">
            <a:avLst>
              <a:gd name="adj" fmla="val 106498225"/>
            </a:avLst>
          </a:prstGeom>
          <a:solidFill>
            <a:srgbClr val="9B7FD4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10888361" y="2273300"/>
            <a:ext cx="74109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Informar</a:t>
            </a:r>
            <a:endParaRPr lang="en-US" sz="1496" dirty="0"/>
          </a:p>
        </p:txBody>
      </p:sp>
      <p:sp>
        <p:nvSpPr>
          <p:cNvPr id="15" name="Shape 12"/>
          <p:cNvSpPr/>
          <p:nvPr/>
        </p:nvSpPr>
        <p:spPr>
          <a:xfrm>
            <a:off x="4273357" y="2959100"/>
            <a:ext cx="7634798" cy="1066800"/>
          </a:xfrm>
          <a:prstGeom prst="roundRect">
            <a:avLst>
              <a:gd name="adj" fmla="val 12245"/>
            </a:avLst>
          </a:prstGeom>
          <a:solidFill>
            <a:srgbClr val="FFFFFF"/>
          </a:solidFill>
          <a:ln w="12700">
            <a:solidFill>
              <a:srgbClr val="2BBCD4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50713" y="3289300"/>
            <a:ext cx="405384" cy="406400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08116" y="3111500"/>
            <a:ext cx="552553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Módulo de Ventas y Reservas</a:t>
            </a:r>
            <a:endParaRPr lang="en-US" sz="1795" dirty="0"/>
          </a:p>
        </p:txBody>
      </p:sp>
      <p:sp>
        <p:nvSpPr>
          <p:cNvPr id="18" name="Text 14"/>
          <p:cNvSpPr txBox="1"/>
          <p:nvPr/>
        </p:nvSpPr>
        <p:spPr>
          <a:xfrm>
            <a:off x="5008116" y="3416300"/>
            <a:ext cx="552553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Carrito persistente, confirmación inmediata, agendamiento sencillo</a:t>
            </a:r>
            <a:endParaRPr lang="en-US" sz="1496" dirty="0"/>
          </a:p>
        </p:txBody>
      </p:sp>
      <p:sp>
        <p:nvSpPr>
          <p:cNvPr id="19" name="Shape 15"/>
          <p:cNvSpPr/>
          <p:nvPr/>
        </p:nvSpPr>
        <p:spPr>
          <a:xfrm>
            <a:off x="10685669" y="3327400"/>
            <a:ext cx="1070467" cy="330200"/>
          </a:xfrm>
          <a:prstGeom prst="roundRect">
            <a:avLst>
              <a:gd name="adj" fmla="val 106498225"/>
            </a:avLst>
          </a:prstGeom>
          <a:solidFill>
            <a:srgbClr val="9B7FD4"/>
          </a:solidFill>
          <a:ln/>
        </p:spPr>
      </p:sp>
      <p:sp>
        <p:nvSpPr>
          <p:cNvPr id="20" name="Text 16"/>
          <p:cNvSpPr txBox="1"/>
          <p:nvPr/>
        </p:nvSpPr>
        <p:spPr>
          <a:xfrm>
            <a:off x="10812351" y="3378200"/>
            <a:ext cx="81710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Convertir</a:t>
            </a:r>
            <a:endParaRPr lang="en-US" sz="1496" dirty="0"/>
          </a:p>
        </p:txBody>
      </p:sp>
      <p:sp>
        <p:nvSpPr>
          <p:cNvPr id="21" name="Shape 17"/>
          <p:cNvSpPr/>
          <p:nvPr/>
        </p:nvSpPr>
        <p:spPr>
          <a:xfrm>
            <a:off x="4273357" y="4178300"/>
            <a:ext cx="7634798" cy="838200"/>
          </a:xfrm>
          <a:prstGeom prst="roundRect">
            <a:avLst>
              <a:gd name="adj" fmla="val 19835"/>
            </a:avLst>
          </a:prstGeom>
          <a:solidFill>
            <a:srgbClr val="FFFFFF"/>
          </a:solidFill>
          <a:ln w="12700">
            <a:solidFill>
              <a:srgbClr val="2BBCD4"/>
            </a:solidFill>
            <a:prstDash val="solid"/>
          </a:ln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450713" y="4394200"/>
            <a:ext cx="405384" cy="406400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5008116" y="4330700"/>
            <a:ext cx="56142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Personalización Sensorial</a:t>
            </a:r>
            <a:endParaRPr lang="en-US" sz="1795" dirty="0"/>
          </a:p>
        </p:txBody>
      </p:sp>
      <p:sp>
        <p:nvSpPr>
          <p:cNvPr id="24" name="Text 19"/>
          <p:cNvSpPr txBox="1"/>
          <p:nvPr/>
        </p:nvSpPr>
        <p:spPr>
          <a:xfrm>
            <a:off x="5008116" y="4635500"/>
            <a:ext cx="561421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Notas sensoriales por niño, historial de sesiones, perfil familiar</a:t>
            </a:r>
            <a:endParaRPr lang="en-US" sz="1496" dirty="0"/>
          </a:p>
        </p:txBody>
      </p:sp>
      <p:sp>
        <p:nvSpPr>
          <p:cNvPr id="25" name="Shape 20"/>
          <p:cNvSpPr/>
          <p:nvPr/>
        </p:nvSpPr>
        <p:spPr>
          <a:xfrm>
            <a:off x="10774347" y="4432300"/>
            <a:ext cx="981789" cy="330200"/>
          </a:xfrm>
          <a:prstGeom prst="roundRect">
            <a:avLst>
              <a:gd name="adj" fmla="val 106498225"/>
            </a:avLst>
          </a:prstGeom>
          <a:solidFill>
            <a:srgbClr val="9B7FD4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10901029" y="4483100"/>
            <a:ext cx="7284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Fidelizar</a:t>
            </a:r>
            <a:endParaRPr lang="en-US" sz="1496" dirty="0"/>
          </a:p>
        </p:txBody>
      </p:sp>
      <p:sp>
        <p:nvSpPr>
          <p:cNvPr id="27" name="Shape 22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8" name="Text 23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38258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Nuestros Diferenciadores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253365" y="812800"/>
            <a:ext cx="1165479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i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Lo que nos hace únicos en el mercado de bienestar sensorial infantil</a:t>
            </a:r>
            <a:endParaRPr lang="en-US" sz="1795" dirty="0"/>
          </a:p>
        </p:txBody>
      </p:sp>
      <p:sp>
        <p:nvSpPr>
          <p:cNvPr id="6" name="Shape 4"/>
          <p:cNvSpPr/>
          <p:nvPr/>
        </p:nvSpPr>
        <p:spPr>
          <a:xfrm>
            <a:off x="5472684" y="1168400"/>
            <a:ext cx="1216152" cy="25400"/>
          </a:xfrm>
          <a:prstGeom prst="rect">
            <a:avLst/>
          </a:prstGeom>
          <a:solidFill>
            <a:srgbClr val="2BBCD4"/>
          </a:solidFill>
          <a:ln/>
        </p:spPr>
      </p:sp>
      <p:sp>
        <p:nvSpPr>
          <p:cNvPr id="7" name="Shape 5"/>
          <p:cNvSpPr/>
          <p:nvPr/>
        </p:nvSpPr>
        <p:spPr>
          <a:xfrm>
            <a:off x="405384" y="1346200"/>
            <a:ext cx="3648456" cy="4826000"/>
          </a:xfrm>
          <a:prstGeom prst="roundRect">
            <a:avLst>
              <a:gd name="adj" fmla="val 1055"/>
            </a:avLst>
          </a:prstGeom>
          <a:solidFill>
            <a:srgbClr val="0D1B3E"/>
          </a:solidFill>
          <a:ln/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976247" y="1549400"/>
            <a:ext cx="506730" cy="508000"/>
          </a:xfrm>
          <a:prstGeom prst="rect">
            <a:avLst/>
          </a:prstGeom>
        </p:spPr>
      </p:pic>
      <p:sp>
        <p:nvSpPr>
          <p:cNvPr id="9" name="Text 6"/>
          <p:cNvSpPr txBox="1"/>
          <p:nvPr/>
        </p:nvSpPr>
        <p:spPr>
          <a:xfrm>
            <a:off x="1114806" y="2209800"/>
            <a:ext cx="2229612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Confianza de Marca</a:t>
            </a:r>
            <a:endParaRPr lang="en-US" sz="1795" dirty="0"/>
          </a:p>
        </p:txBody>
      </p:sp>
      <p:sp>
        <p:nvSpPr>
          <p:cNvPr id="10" name="Text 7"/>
          <p:cNvSpPr txBox="1"/>
          <p:nvPr/>
        </p:nvSpPr>
        <p:spPr>
          <a:xfrm>
            <a:off x="760095" y="2616200"/>
            <a:ext cx="292636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Respaldo profesional especializado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760095" y="2946400"/>
            <a:ext cx="257798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Comunicación empática y clara</a:t>
            </a:r>
            <a:endParaRPr lang="en-US" sz="1496" dirty="0"/>
          </a:p>
        </p:txBody>
      </p:sp>
      <p:sp>
        <p:nvSpPr>
          <p:cNvPr id="12" name="Text 9"/>
          <p:cNvSpPr txBox="1"/>
          <p:nvPr/>
        </p:nvSpPr>
        <p:spPr>
          <a:xfrm>
            <a:off x="760095" y="3276600"/>
            <a:ext cx="259065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Imagen institucional coherente</a:t>
            </a:r>
            <a:endParaRPr lang="en-US" sz="1496" dirty="0"/>
          </a:p>
        </p:txBody>
      </p:sp>
      <p:sp>
        <p:nvSpPr>
          <p:cNvPr id="13" name="Shape 10"/>
          <p:cNvSpPr/>
          <p:nvPr/>
        </p:nvSpPr>
        <p:spPr>
          <a:xfrm>
            <a:off x="4256532" y="1346200"/>
            <a:ext cx="3648456" cy="4826000"/>
          </a:xfrm>
          <a:prstGeom prst="roundRect">
            <a:avLst>
              <a:gd name="adj" fmla="val 1055"/>
            </a:avLst>
          </a:prstGeom>
          <a:solidFill>
            <a:srgbClr val="0D1B3E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27395" y="1549400"/>
            <a:ext cx="506730" cy="508000"/>
          </a:xfrm>
          <a:prstGeom prst="rect">
            <a:avLst/>
          </a:prstGeom>
        </p:spPr>
      </p:pic>
      <p:sp>
        <p:nvSpPr>
          <p:cNvPr id="15" name="Text 11"/>
          <p:cNvSpPr txBox="1"/>
          <p:nvPr/>
        </p:nvSpPr>
        <p:spPr>
          <a:xfrm>
            <a:off x="4794933" y="2209800"/>
            <a:ext cx="2571655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Sistema que Recuerda</a:t>
            </a:r>
            <a:endParaRPr lang="en-US" sz="1795" dirty="0"/>
          </a:p>
        </p:txBody>
      </p:sp>
      <p:sp>
        <p:nvSpPr>
          <p:cNvPr id="16" name="Text 12"/>
          <p:cNvSpPr txBox="1"/>
          <p:nvPr/>
        </p:nvSpPr>
        <p:spPr>
          <a:xfrm>
            <a:off x="4611243" y="2616200"/>
            <a:ext cx="19825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Perfil sensorial por niño</a:t>
            </a:r>
            <a:endParaRPr lang="en-US" sz="1496" dirty="0"/>
          </a:p>
        </p:txBody>
      </p:sp>
      <p:sp>
        <p:nvSpPr>
          <p:cNvPr id="17" name="Text 13"/>
          <p:cNvSpPr txBox="1"/>
          <p:nvPr/>
        </p:nvSpPr>
        <p:spPr>
          <a:xfrm>
            <a:off x="4611243" y="2946400"/>
            <a:ext cx="25083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Carrito de compra persistente</a:t>
            </a:r>
            <a:endParaRPr lang="en-US" sz="1496" dirty="0"/>
          </a:p>
        </p:txBody>
      </p:sp>
      <p:sp>
        <p:nvSpPr>
          <p:cNvPr id="18" name="Text 14"/>
          <p:cNvSpPr txBox="1"/>
          <p:nvPr/>
        </p:nvSpPr>
        <p:spPr>
          <a:xfrm>
            <a:off x="4611243" y="3276600"/>
            <a:ext cx="265399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Historial de sesiones y progreso</a:t>
            </a:r>
            <a:endParaRPr lang="en-US" sz="1496" dirty="0"/>
          </a:p>
        </p:txBody>
      </p:sp>
      <p:sp>
        <p:nvSpPr>
          <p:cNvPr id="19" name="Shape 15"/>
          <p:cNvSpPr/>
          <p:nvPr/>
        </p:nvSpPr>
        <p:spPr>
          <a:xfrm>
            <a:off x="8107680" y="1346200"/>
            <a:ext cx="3648456" cy="4826000"/>
          </a:xfrm>
          <a:prstGeom prst="roundRect">
            <a:avLst>
              <a:gd name="adj" fmla="val 1055"/>
            </a:avLst>
          </a:prstGeom>
          <a:solidFill>
            <a:srgbClr val="0D1B3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678543" y="1549400"/>
            <a:ext cx="506730" cy="5080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627078" y="2209800"/>
            <a:ext cx="2609660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Seguridad y Privacidad</a:t>
            </a:r>
            <a:endParaRPr lang="en-US" sz="1795" dirty="0"/>
          </a:p>
        </p:txBody>
      </p:sp>
      <p:sp>
        <p:nvSpPr>
          <p:cNvPr id="22" name="Text 17"/>
          <p:cNvSpPr txBox="1"/>
          <p:nvPr/>
        </p:nvSpPr>
        <p:spPr>
          <a:xfrm>
            <a:off x="8462391" y="2616200"/>
            <a:ext cx="246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Datos protegidos de menores</a:t>
            </a:r>
            <a:endParaRPr lang="en-US" sz="1496" dirty="0"/>
          </a:p>
        </p:txBody>
      </p:sp>
      <p:sp>
        <p:nvSpPr>
          <p:cNvPr id="23" name="Text 18"/>
          <p:cNvSpPr txBox="1"/>
          <p:nvPr/>
        </p:nvSpPr>
        <p:spPr>
          <a:xfrm>
            <a:off x="8462391" y="2946400"/>
            <a:ext cx="3008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Confirmación inmediata de reservas</a:t>
            </a:r>
            <a:endParaRPr lang="en-US" sz="1496" dirty="0"/>
          </a:p>
        </p:txBody>
      </p:sp>
      <p:sp>
        <p:nvSpPr>
          <p:cNvPr id="24" name="Text 19"/>
          <p:cNvSpPr txBox="1"/>
          <p:nvPr/>
        </p:nvSpPr>
        <p:spPr>
          <a:xfrm>
            <a:off x="8462391" y="3276600"/>
            <a:ext cx="24829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D1D5D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Acceso controlado por familia</a:t>
            </a:r>
            <a:endParaRPr lang="en-US" sz="1496" dirty="0"/>
          </a:p>
        </p:txBody>
      </p:sp>
      <p:sp>
        <p:nvSpPr>
          <p:cNvPr id="25" name="Shape 20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463658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Costos Estimados del Proyecto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304038" y="977900"/>
            <a:ext cx="1964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Componente</a:t>
            </a:r>
            <a:endParaRPr lang="en-US" sz="1496" dirty="0"/>
          </a:p>
        </p:txBody>
      </p:sp>
      <p:sp>
        <p:nvSpPr>
          <p:cNvPr id="6" name="Text 4"/>
          <p:cNvSpPr txBox="1"/>
          <p:nvPr/>
        </p:nvSpPr>
        <p:spPr>
          <a:xfrm>
            <a:off x="2471002" y="977900"/>
            <a:ext cx="3327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Descripción</a:t>
            </a:r>
            <a:endParaRPr lang="en-US" sz="1496" dirty="0"/>
          </a:p>
        </p:txBody>
      </p:sp>
      <p:sp>
        <p:nvSpPr>
          <p:cNvPr id="7" name="Text 5"/>
          <p:cNvSpPr txBox="1"/>
          <p:nvPr/>
        </p:nvSpPr>
        <p:spPr>
          <a:xfrm>
            <a:off x="6001089" y="863600"/>
            <a:ext cx="103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Costo (COP)</a:t>
            </a:r>
            <a:endParaRPr lang="en-US" sz="1496" dirty="0"/>
          </a:p>
        </p:txBody>
      </p:sp>
      <p:sp>
        <p:nvSpPr>
          <p:cNvPr id="8" name="Shape 6"/>
          <p:cNvSpPr/>
          <p:nvPr/>
        </p:nvSpPr>
        <p:spPr>
          <a:xfrm>
            <a:off x="202692" y="1422400"/>
            <a:ext cx="2166964" cy="663575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304038" y="1638300"/>
            <a:ext cx="1964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Desarrollo Web</a:t>
            </a:r>
            <a:endParaRPr lang="en-US" sz="1496" dirty="0"/>
          </a:p>
        </p:txBody>
      </p:sp>
      <p:sp>
        <p:nvSpPr>
          <p:cNvPr id="10" name="Shape 8"/>
          <p:cNvSpPr/>
          <p:nvPr/>
        </p:nvSpPr>
        <p:spPr>
          <a:xfrm>
            <a:off x="2369656" y="1422400"/>
            <a:ext cx="3530087" cy="663575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2471002" y="1524000"/>
            <a:ext cx="3327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Landing, módulo ventas, backend, UX/UI</a:t>
            </a:r>
            <a:endParaRPr lang="en-US" sz="1496" dirty="0"/>
          </a:p>
        </p:txBody>
      </p:sp>
      <p:sp>
        <p:nvSpPr>
          <p:cNvPr id="12" name="Shape 10"/>
          <p:cNvSpPr/>
          <p:nvPr/>
        </p:nvSpPr>
        <p:spPr>
          <a:xfrm>
            <a:off x="5899743" y="1422400"/>
            <a:ext cx="1234956" cy="663575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6001089" y="1524000"/>
            <a:ext cx="103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$8M - $12M</a:t>
            </a:r>
            <a:endParaRPr lang="en-US" sz="1496" dirty="0"/>
          </a:p>
        </p:txBody>
      </p:sp>
      <p:sp>
        <p:nvSpPr>
          <p:cNvPr id="14" name="Shape 12"/>
          <p:cNvSpPr/>
          <p:nvPr/>
        </p:nvSpPr>
        <p:spPr>
          <a:xfrm>
            <a:off x="202692" y="2085975"/>
            <a:ext cx="2166964" cy="6667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04038" y="2305050"/>
            <a:ext cx="1964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Espacio Físico</a:t>
            </a:r>
            <a:endParaRPr lang="en-US" sz="1496" dirty="0"/>
          </a:p>
        </p:txBody>
      </p:sp>
      <p:sp>
        <p:nvSpPr>
          <p:cNvPr id="16" name="Shape 14"/>
          <p:cNvSpPr/>
          <p:nvPr/>
        </p:nvSpPr>
        <p:spPr>
          <a:xfrm>
            <a:off x="2369656" y="2085975"/>
            <a:ext cx="3530087" cy="6667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71002" y="2190750"/>
            <a:ext cx="33273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Adecuación sala, proyector, ambiente oscuro</a:t>
            </a:r>
            <a:endParaRPr lang="en-US" sz="1496" dirty="0"/>
          </a:p>
        </p:txBody>
      </p:sp>
      <p:sp>
        <p:nvSpPr>
          <p:cNvPr id="18" name="Shape 16"/>
          <p:cNvSpPr/>
          <p:nvPr/>
        </p:nvSpPr>
        <p:spPr>
          <a:xfrm>
            <a:off x="5899743" y="2085975"/>
            <a:ext cx="1234956" cy="6667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001089" y="2190750"/>
            <a:ext cx="103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$6M - $10M</a:t>
            </a:r>
            <a:endParaRPr lang="en-US" sz="1496" dirty="0"/>
          </a:p>
        </p:txBody>
      </p:sp>
      <p:sp>
        <p:nvSpPr>
          <p:cNvPr id="20" name="Shape 18"/>
          <p:cNvSpPr/>
          <p:nvPr/>
        </p:nvSpPr>
        <p:spPr>
          <a:xfrm>
            <a:off x="202692" y="2752725"/>
            <a:ext cx="2166964" cy="6667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304038" y="2857500"/>
            <a:ext cx="1964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Experiencias Interactivas</a:t>
            </a:r>
            <a:endParaRPr lang="en-US" sz="1496" dirty="0"/>
          </a:p>
        </p:txBody>
      </p:sp>
      <p:sp>
        <p:nvSpPr>
          <p:cNvPr id="22" name="Shape 20"/>
          <p:cNvSpPr/>
          <p:nvPr/>
        </p:nvSpPr>
        <p:spPr>
          <a:xfrm>
            <a:off x="2369656" y="2752725"/>
            <a:ext cx="3530087" cy="6667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2471002" y="2971800"/>
            <a:ext cx="3327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Desarrollo OpenFrameworks</a:t>
            </a:r>
            <a:endParaRPr lang="en-US" sz="1496" dirty="0"/>
          </a:p>
        </p:txBody>
      </p:sp>
      <p:sp>
        <p:nvSpPr>
          <p:cNvPr id="24" name="Shape 22"/>
          <p:cNvSpPr/>
          <p:nvPr/>
        </p:nvSpPr>
        <p:spPr>
          <a:xfrm>
            <a:off x="5899743" y="2752725"/>
            <a:ext cx="1234956" cy="6667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6001089" y="2857500"/>
            <a:ext cx="103226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$7M - $11M</a:t>
            </a:r>
            <a:endParaRPr lang="en-US" sz="1496" dirty="0"/>
          </a:p>
        </p:txBody>
      </p:sp>
      <p:sp>
        <p:nvSpPr>
          <p:cNvPr id="26" name="Shape 24"/>
          <p:cNvSpPr/>
          <p:nvPr/>
        </p:nvSpPr>
        <p:spPr>
          <a:xfrm>
            <a:off x="202692" y="3419475"/>
            <a:ext cx="2166964" cy="4381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304038" y="3524250"/>
            <a:ext cx="19642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Equipo Especializado</a:t>
            </a:r>
            <a:endParaRPr lang="en-US" sz="1496" dirty="0"/>
          </a:p>
        </p:txBody>
      </p:sp>
      <p:sp>
        <p:nvSpPr>
          <p:cNvPr id="28" name="Shape 26"/>
          <p:cNvSpPr/>
          <p:nvPr/>
        </p:nvSpPr>
        <p:spPr>
          <a:xfrm>
            <a:off x="2369656" y="3419475"/>
            <a:ext cx="3530087" cy="4381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2471002" y="3524250"/>
            <a:ext cx="3327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Terapeutas, psicólogos, asesores</a:t>
            </a:r>
            <a:endParaRPr lang="en-US" sz="1496" dirty="0"/>
          </a:p>
        </p:txBody>
      </p:sp>
      <p:sp>
        <p:nvSpPr>
          <p:cNvPr id="30" name="Shape 28"/>
          <p:cNvSpPr/>
          <p:nvPr/>
        </p:nvSpPr>
        <p:spPr>
          <a:xfrm>
            <a:off x="5899743" y="3419475"/>
            <a:ext cx="1234956" cy="438150"/>
          </a:xfrm>
          <a:prstGeom prst="rect">
            <a:avLst/>
          </a:prstGeom>
          <a:noFill/>
          <a:ln w="12700">
            <a:solidFill>
              <a:srgbClr val="E5E7EB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01089" y="3524250"/>
            <a:ext cx="103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$4M - $8M</a:t>
            </a:r>
            <a:endParaRPr lang="en-US" sz="1496" dirty="0"/>
          </a:p>
        </p:txBody>
      </p:sp>
      <p:sp>
        <p:nvSpPr>
          <p:cNvPr id="32" name="Text 30"/>
          <p:cNvSpPr txBox="1"/>
          <p:nvPr/>
        </p:nvSpPr>
        <p:spPr>
          <a:xfrm>
            <a:off x="304038" y="3962400"/>
            <a:ext cx="196427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Marketing y Lanzamiento</a:t>
            </a:r>
            <a:endParaRPr lang="en-US" sz="1496" dirty="0"/>
          </a:p>
        </p:txBody>
      </p:sp>
      <p:sp>
        <p:nvSpPr>
          <p:cNvPr id="33" name="Text 31"/>
          <p:cNvSpPr txBox="1"/>
          <p:nvPr/>
        </p:nvSpPr>
        <p:spPr>
          <a:xfrm>
            <a:off x="2471002" y="4076700"/>
            <a:ext cx="332739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Campaña digital, redes, material gráfico</a:t>
            </a:r>
            <a:endParaRPr lang="en-US" sz="1496" dirty="0"/>
          </a:p>
        </p:txBody>
      </p:sp>
      <p:sp>
        <p:nvSpPr>
          <p:cNvPr id="34" name="Text 32"/>
          <p:cNvSpPr txBox="1"/>
          <p:nvPr/>
        </p:nvSpPr>
        <p:spPr>
          <a:xfrm>
            <a:off x="6001089" y="4076700"/>
            <a:ext cx="1032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$2M - $4M</a:t>
            </a:r>
            <a:endParaRPr lang="en-US" sz="1496" dirty="0"/>
          </a:p>
        </p:txBody>
      </p:sp>
      <p:sp>
        <p:nvSpPr>
          <p:cNvPr id="35" name="Text 33"/>
          <p:cNvSpPr txBox="1"/>
          <p:nvPr/>
        </p:nvSpPr>
        <p:spPr>
          <a:xfrm>
            <a:off x="7337391" y="762000"/>
            <a:ext cx="4621338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Distribución del presupuesto</a:t>
            </a:r>
            <a:endParaRPr lang="en-US" sz="1795" dirty="0"/>
          </a:p>
        </p:txBody>
      </p:sp>
      <p:pic>
        <p:nvPicPr>
          <p:cNvPr id="3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7760491" y="1117600"/>
            <a:ext cx="3775139" cy="3784600"/>
          </a:xfrm>
          <a:prstGeom prst="rect">
            <a:avLst/>
          </a:prstGeom>
        </p:spPr>
      </p:pic>
      <p:sp>
        <p:nvSpPr>
          <p:cNvPr id="37" name="Shape 34"/>
          <p:cNvSpPr/>
          <p:nvPr/>
        </p:nvSpPr>
        <p:spPr>
          <a:xfrm>
            <a:off x="7337391" y="5054600"/>
            <a:ext cx="4621338" cy="1168400"/>
          </a:xfrm>
          <a:prstGeom prst="roundRect">
            <a:avLst>
              <a:gd name="adj" fmla="val 10208"/>
            </a:avLst>
          </a:prstGeom>
          <a:solidFill>
            <a:srgbClr val="0D1B3E"/>
          </a:solidFill>
          <a:ln/>
        </p:spPr>
      </p:sp>
      <p:sp>
        <p:nvSpPr>
          <p:cNvPr id="38" name="Text 35"/>
          <p:cNvSpPr txBox="1"/>
          <p:nvPr/>
        </p:nvSpPr>
        <p:spPr>
          <a:xfrm>
            <a:off x="7489410" y="5207000"/>
            <a:ext cx="431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Inversión Total Estimada</a:t>
            </a:r>
            <a:endParaRPr lang="en-US" sz="1496" dirty="0"/>
          </a:p>
        </p:txBody>
      </p:sp>
      <p:sp>
        <p:nvSpPr>
          <p:cNvPr id="39" name="Text 36"/>
          <p:cNvSpPr txBox="1"/>
          <p:nvPr/>
        </p:nvSpPr>
        <p:spPr>
          <a:xfrm>
            <a:off x="7489410" y="5486400"/>
            <a:ext cx="43173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b="1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$27M - $45M COP</a:t>
            </a:r>
            <a:endParaRPr lang="en-US" sz="2394" dirty="0"/>
          </a:p>
        </p:txBody>
      </p:sp>
      <p:sp>
        <p:nvSpPr>
          <p:cNvPr id="40" name="Text 37"/>
          <p:cNvSpPr txBox="1"/>
          <p:nvPr/>
        </p:nvSpPr>
        <p:spPr>
          <a:xfrm>
            <a:off x="7489410" y="5842000"/>
            <a:ext cx="43173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i="1" dirty="0">
                <a:solidFill>
                  <a:srgbClr val="64748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Rango según proveedores y escala de lanzamiento</a:t>
            </a:r>
            <a:endParaRPr lang="en-US" sz="1496" dirty="0"/>
          </a:p>
        </p:txBody>
      </p:sp>
      <p:sp>
        <p:nvSpPr>
          <p:cNvPr id="41" name="Shape 38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2" name="Text 39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356611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Modelo de Distribución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253365" y="812800"/>
            <a:ext cx="5156176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Modelo Híbrido D2C + B2B</a:t>
            </a:r>
            <a:endParaRPr lang="en-US" sz="2394" dirty="0"/>
          </a:p>
        </p:txBody>
      </p:sp>
      <p:sp>
        <p:nvSpPr>
          <p:cNvPr id="6" name="Text 4"/>
          <p:cNvSpPr txBox="1"/>
          <p:nvPr/>
        </p:nvSpPr>
        <p:spPr>
          <a:xfrm>
            <a:off x="253365" y="1168400"/>
            <a:ext cx="51561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Venta directa a familias y alianzas con instituciones educativas y de salud</a:t>
            </a:r>
            <a:endParaRPr lang="en-US" sz="1496" dirty="0"/>
          </a:p>
        </p:txBody>
      </p:sp>
      <p:sp>
        <p:nvSpPr>
          <p:cNvPr id="7" name="Shape 5"/>
          <p:cNvSpPr/>
          <p:nvPr/>
        </p:nvSpPr>
        <p:spPr>
          <a:xfrm>
            <a:off x="5612233" y="914400"/>
            <a:ext cx="1793844" cy="609600"/>
          </a:xfrm>
          <a:prstGeom prst="roundRect">
            <a:avLst>
              <a:gd name="adj" fmla="val 31246875"/>
            </a:avLst>
          </a:prstGeom>
          <a:solidFill>
            <a:srgbClr val="2BBCD4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764252" y="990600"/>
            <a:ext cx="148980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Sesiones presenciales</a:t>
            </a:r>
            <a:endParaRPr lang="en-US" sz="1496" dirty="0"/>
          </a:p>
        </p:txBody>
      </p:sp>
      <p:sp>
        <p:nvSpPr>
          <p:cNvPr id="9" name="Shape 7"/>
          <p:cNvSpPr/>
          <p:nvPr/>
        </p:nvSpPr>
        <p:spPr>
          <a:xfrm>
            <a:off x="7507423" y="914400"/>
            <a:ext cx="1451306" cy="609600"/>
          </a:xfrm>
          <a:prstGeom prst="roundRect">
            <a:avLst>
              <a:gd name="adj" fmla="val 31246875"/>
            </a:avLst>
          </a:prstGeom>
          <a:solidFill>
            <a:srgbClr val="9B7FD4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659442" y="990600"/>
            <a:ext cx="11472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Talleres grupales</a:t>
            </a:r>
            <a:endParaRPr lang="en-US" sz="1496" dirty="0"/>
          </a:p>
        </p:txBody>
      </p:sp>
      <p:sp>
        <p:nvSpPr>
          <p:cNvPr id="11" name="Shape 9"/>
          <p:cNvSpPr/>
          <p:nvPr/>
        </p:nvSpPr>
        <p:spPr>
          <a:xfrm>
            <a:off x="9060075" y="914400"/>
            <a:ext cx="1555028" cy="609600"/>
          </a:xfrm>
          <a:prstGeom prst="roundRect">
            <a:avLst>
              <a:gd name="adj" fmla="val 31246875"/>
            </a:avLst>
          </a:prstGeom>
          <a:solidFill>
            <a:srgbClr val="2BBCD4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212094" y="990600"/>
            <a:ext cx="125099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Suscripción digital</a:t>
            </a:r>
            <a:endParaRPr lang="en-US" sz="1496" dirty="0"/>
          </a:p>
        </p:txBody>
      </p:sp>
      <p:sp>
        <p:nvSpPr>
          <p:cNvPr id="13" name="Shape 11"/>
          <p:cNvSpPr/>
          <p:nvPr/>
        </p:nvSpPr>
        <p:spPr>
          <a:xfrm>
            <a:off x="10716449" y="914400"/>
            <a:ext cx="1191706" cy="609600"/>
          </a:xfrm>
          <a:prstGeom prst="roundRect">
            <a:avLst>
              <a:gd name="adj" fmla="val 31246875"/>
            </a:avLst>
          </a:prstGeom>
          <a:solidFill>
            <a:srgbClr val="9B7FD4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0868468" y="990600"/>
            <a:ext cx="88766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Alianzas B2B</a:t>
            </a:r>
            <a:endParaRPr lang="en-US" sz="1496" dirty="0"/>
          </a:p>
        </p:txBody>
      </p:sp>
      <p:sp>
        <p:nvSpPr>
          <p:cNvPr id="15" name="Shape 13"/>
          <p:cNvSpPr/>
          <p:nvPr/>
        </p:nvSpPr>
        <p:spPr>
          <a:xfrm>
            <a:off x="253365" y="1828800"/>
            <a:ext cx="2799683" cy="4343400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63500" dir="5400000">
              <a:srgbClr val="000000">
                <a:alpha val="10000"/>
              </a:srgbClr>
            </a:outerShdw>
          </a:effectLst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450515" y="1981200"/>
            <a:ext cx="405384" cy="406400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88124" y="2489200"/>
            <a:ext cx="1330166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Web Propia</a:t>
            </a:r>
            <a:endParaRPr lang="en-US" sz="1795" dirty="0"/>
          </a:p>
        </p:txBody>
      </p:sp>
      <p:sp>
        <p:nvSpPr>
          <p:cNvPr id="18" name="Text 15"/>
          <p:cNvSpPr txBox="1"/>
          <p:nvPr/>
        </p:nvSpPr>
        <p:spPr>
          <a:xfrm>
            <a:off x="405384" y="2819400"/>
            <a:ext cx="2495645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Reservas y ventas directas vía plataforma A-TENCION</a:t>
            </a:r>
            <a:endParaRPr lang="en-US" sz="1496" dirty="0"/>
          </a:p>
        </p:txBody>
      </p:sp>
      <p:sp>
        <p:nvSpPr>
          <p:cNvPr id="19" name="Shape 16"/>
          <p:cNvSpPr/>
          <p:nvPr/>
        </p:nvSpPr>
        <p:spPr>
          <a:xfrm>
            <a:off x="1358670" y="5689600"/>
            <a:ext cx="589074" cy="330200"/>
          </a:xfrm>
          <a:prstGeom prst="roundRect">
            <a:avLst>
              <a:gd name="adj" fmla="val 106498225"/>
            </a:avLst>
          </a:prstGeom>
          <a:solidFill>
            <a:srgbClr val="9B7FD4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1460016" y="5740400"/>
            <a:ext cx="38638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D2C</a:t>
            </a:r>
            <a:endParaRPr lang="en-US" sz="1496" dirty="0"/>
          </a:p>
        </p:txBody>
      </p:sp>
      <p:sp>
        <p:nvSpPr>
          <p:cNvPr id="21" name="Shape 18"/>
          <p:cNvSpPr/>
          <p:nvPr/>
        </p:nvSpPr>
        <p:spPr>
          <a:xfrm>
            <a:off x="3205067" y="1828800"/>
            <a:ext cx="2799683" cy="4343400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63500" dir="5400000">
              <a:srgbClr val="000000">
                <a:alpha val="10000"/>
              </a:srgbClr>
            </a:outerShdw>
          </a:effectLst>
        </p:spPr>
      </p:sp>
      <p:pic>
        <p:nvPicPr>
          <p:cNvPr id="22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402217" y="1981200"/>
            <a:ext cx="405384" cy="40640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550277" y="2489200"/>
            <a:ext cx="210926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Colegios y Clínicas</a:t>
            </a:r>
            <a:endParaRPr lang="en-US" sz="1795" dirty="0"/>
          </a:p>
        </p:txBody>
      </p:sp>
      <p:sp>
        <p:nvSpPr>
          <p:cNvPr id="24" name="Text 20"/>
          <p:cNvSpPr txBox="1"/>
          <p:nvPr/>
        </p:nvSpPr>
        <p:spPr>
          <a:xfrm>
            <a:off x="3357086" y="2819400"/>
            <a:ext cx="2495645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Programas de bienestar sensorial para instituciones</a:t>
            </a:r>
            <a:endParaRPr lang="en-US" sz="1496" dirty="0"/>
          </a:p>
        </p:txBody>
      </p:sp>
      <p:sp>
        <p:nvSpPr>
          <p:cNvPr id="25" name="Shape 21"/>
          <p:cNvSpPr/>
          <p:nvPr/>
        </p:nvSpPr>
        <p:spPr>
          <a:xfrm>
            <a:off x="4329374" y="5689600"/>
            <a:ext cx="551069" cy="330200"/>
          </a:xfrm>
          <a:prstGeom prst="roundRect">
            <a:avLst>
              <a:gd name="adj" fmla="val 106498225"/>
            </a:avLst>
          </a:prstGeom>
          <a:solidFill>
            <a:srgbClr val="9B7FD4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4430720" y="5740400"/>
            <a:ext cx="348377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B2B</a:t>
            </a:r>
            <a:endParaRPr lang="en-US" sz="1496" dirty="0"/>
          </a:p>
        </p:txBody>
      </p:sp>
      <p:sp>
        <p:nvSpPr>
          <p:cNvPr id="27" name="Shape 23"/>
          <p:cNvSpPr/>
          <p:nvPr/>
        </p:nvSpPr>
        <p:spPr>
          <a:xfrm>
            <a:off x="6156770" y="1828800"/>
            <a:ext cx="2799683" cy="4343400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63500" dir="5400000">
              <a:srgbClr val="000000">
                <a:alpha val="10000"/>
              </a:srgbClr>
            </a:outerShdw>
          </a:effectLst>
        </p:spPr>
      </p:sp>
      <p:sp>
        <p:nvSpPr>
          <p:cNvPr id="28" name="Text 24"/>
          <p:cNvSpPr txBox="1"/>
          <p:nvPr/>
        </p:nvSpPr>
        <p:spPr>
          <a:xfrm>
            <a:off x="6711005" y="2489200"/>
            <a:ext cx="1691211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Redes Sociales</a:t>
            </a:r>
            <a:endParaRPr lang="en-US" sz="1795" dirty="0"/>
          </a:p>
        </p:txBody>
      </p:sp>
      <p:sp>
        <p:nvSpPr>
          <p:cNvPr id="29" name="Text 25"/>
          <p:cNvSpPr txBox="1"/>
          <p:nvPr/>
        </p:nvSpPr>
        <p:spPr>
          <a:xfrm>
            <a:off x="6308789" y="2819400"/>
            <a:ext cx="2495645" cy="276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Captación orgánica y pauta digital dirigida a padres</a:t>
            </a:r>
            <a:endParaRPr lang="en-US" sz="1496" dirty="0"/>
          </a:p>
        </p:txBody>
      </p:sp>
      <p:sp>
        <p:nvSpPr>
          <p:cNvPr id="30" name="Shape 26"/>
          <p:cNvSpPr/>
          <p:nvPr/>
        </p:nvSpPr>
        <p:spPr>
          <a:xfrm>
            <a:off x="7176564" y="5689600"/>
            <a:ext cx="760095" cy="330200"/>
          </a:xfrm>
          <a:prstGeom prst="roundRect">
            <a:avLst>
              <a:gd name="adj" fmla="val 106498225"/>
            </a:avLst>
          </a:prstGeom>
          <a:solidFill>
            <a:srgbClr val="9B7FD4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7277910" y="5740400"/>
            <a:ext cx="5574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Digital</a:t>
            </a:r>
            <a:endParaRPr lang="en-US" sz="1496" dirty="0"/>
          </a:p>
        </p:txBody>
      </p:sp>
      <p:sp>
        <p:nvSpPr>
          <p:cNvPr id="32" name="Shape 28"/>
          <p:cNvSpPr/>
          <p:nvPr/>
        </p:nvSpPr>
        <p:spPr>
          <a:xfrm>
            <a:off x="9108472" y="1828800"/>
            <a:ext cx="2799683" cy="4343400"/>
          </a:xfrm>
          <a:prstGeom prst="roundRect">
            <a:avLst>
              <a:gd name="adj" fmla="val 114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88900" dist="63500" dir="5400000">
              <a:srgbClr val="000000">
                <a:alpha val="10000"/>
              </a:srgbClr>
            </a:outerShdw>
          </a:effectLst>
        </p:spPr>
      </p:sp>
      <p:pic>
        <p:nvPicPr>
          <p:cNvPr id="33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10305621" y="1981200"/>
            <a:ext cx="405384" cy="406400"/>
          </a:xfrm>
          <a:prstGeom prst="rect">
            <a:avLst/>
          </a:prstGeom>
        </p:spPr>
      </p:pic>
      <p:sp>
        <p:nvSpPr>
          <p:cNvPr id="34" name="Text 29"/>
          <p:cNvSpPr txBox="1"/>
          <p:nvPr/>
        </p:nvSpPr>
        <p:spPr>
          <a:xfrm>
            <a:off x="9260491" y="2489200"/>
            <a:ext cx="2495645" cy="508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Referidos y Comunidad</a:t>
            </a:r>
            <a:endParaRPr lang="en-US" sz="1795" dirty="0"/>
          </a:p>
        </p:txBody>
      </p:sp>
      <p:sp>
        <p:nvSpPr>
          <p:cNvPr id="35" name="Text 30"/>
          <p:cNvSpPr txBox="1"/>
          <p:nvPr/>
        </p:nvSpPr>
        <p:spPr>
          <a:xfrm>
            <a:off x="9260491" y="3073400"/>
            <a:ext cx="2495645" cy="2514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Programa de fidelización y boca a boca familiar</a:t>
            </a:r>
            <a:endParaRPr lang="en-US" sz="1496" dirty="0"/>
          </a:p>
        </p:txBody>
      </p:sp>
      <p:sp>
        <p:nvSpPr>
          <p:cNvPr id="36" name="Shape 31"/>
          <p:cNvSpPr/>
          <p:nvPr/>
        </p:nvSpPr>
        <p:spPr>
          <a:xfrm>
            <a:off x="9912906" y="5689600"/>
            <a:ext cx="1190816" cy="330200"/>
          </a:xfrm>
          <a:prstGeom prst="roundRect">
            <a:avLst>
              <a:gd name="adj" fmla="val 106498225"/>
            </a:avLst>
          </a:prstGeom>
          <a:solidFill>
            <a:srgbClr val="9B7FD4"/>
          </a:solidFill>
          <a:ln/>
        </p:spPr>
      </p:sp>
      <p:sp>
        <p:nvSpPr>
          <p:cNvPr id="37" name="Text 32"/>
          <p:cNvSpPr txBox="1"/>
          <p:nvPr/>
        </p:nvSpPr>
        <p:spPr>
          <a:xfrm>
            <a:off x="10014252" y="5740400"/>
            <a:ext cx="9881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Community</a:t>
            </a:r>
            <a:endParaRPr lang="en-US" sz="1496" dirty="0"/>
          </a:p>
        </p:txBody>
      </p:sp>
      <p:sp>
        <p:nvSpPr>
          <p:cNvPr id="38" name="Shape 33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9" name="Text 34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4579572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Plan de Ventas y Proyecciones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Text 3"/>
          <p:cNvSpPr txBox="1"/>
          <p:nvPr/>
        </p:nvSpPr>
        <p:spPr>
          <a:xfrm>
            <a:off x="304038" y="762000"/>
            <a:ext cx="135550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Fase 1: Mes 1-4</a:t>
            </a:r>
            <a:endParaRPr lang="en-US" sz="1496" dirty="0"/>
          </a:p>
        </p:txBody>
      </p:sp>
      <p:sp>
        <p:nvSpPr>
          <p:cNvPr id="6" name="Text 4"/>
          <p:cNvSpPr txBox="1"/>
          <p:nvPr/>
        </p:nvSpPr>
        <p:spPr>
          <a:xfrm>
            <a:off x="443389" y="990600"/>
            <a:ext cx="107680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Lanzamiento</a:t>
            </a:r>
            <a:endParaRPr lang="en-US" sz="1496" dirty="0"/>
          </a:p>
        </p:txBody>
      </p:sp>
      <p:sp>
        <p:nvSpPr>
          <p:cNvPr id="7" name="Shape 5"/>
          <p:cNvSpPr/>
          <p:nvPr/>
        </p:nvSpPr>
        <p:spPr>
          <a:xfrm>
            <a:off x="2272961" y="762000"/>
            <a:ext cx="633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892815" y="762000"/>
            <a:ext cx="142517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Fase 2: Mes 5-8</a:t>
            </a:r>
            <a:endParaRPr lang="en-US" sz="1496" dirty="0"/>
          </a:p>
        </p:txBody>
      </p:sp>
      <p:sp>
        <p:nvSpPr>
          <p:cNvPr id="9" name="Text 7"/>
          <p:cNvSpPr txBox="1"/>
          <p:nvPr/>
        </p:nvSpPr>
        <p:spPr>
          <a:xfrm>
            <a:off x="3082838" y="990600"/>
            <a:ext cx="104513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Crecimiento</a:t>
            </a:r>
            <a:endParaRPr lang="en-US" sz="1496" dirty="0"/>
          </a:p>
        </p:txBody>
      </p:sp>
      <p:sp>
        <p:nvSpPr>
          <p:cNvPr id="10" name="Shape 8"/>
          <p:cNvSpPr/>
          <p:nvPr/>
        </p:nvSpPr>
        <p:spPr>
          <a:xfrm>
            <a:off x="4931413" y="762000"/>
            <a:ext cx="6334" cy="457200"/>
          </a:xfrm>
          <a:prstGeom prst="rect">
            <a:avLst/>
          </a:prstGeom>
          <a:solidFill>
            <a:srgbClr val="64748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5551168" y="762000"/>
            <a:ext cx="148218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Fase 3: Mes 9-12</a:t>
            </a:r>
            <a:endParaRPr lang="en-US" sz="1496" dirty="0"/>
          </a:p>
        </p:txBody>
      </p:sp>
      <p:sp>
        <p:nvSpPr>
          <p:cNvPr id="12" name="Text 10"/>
          <p:cNvSpPr txBox="1"/>
          <p:nvPr/>
        </p:nvSpPr>
        <p:spPr>
          <a:xfrm>
            <a:off x="5693686" y="990600"/>
            <a:ext cx="119715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Consolidación</a:t>
            </a:r>
            <a:endParaRPr lang="en-US" sz="1496" dirty="0"/>
          </a:p>
        </p:txBody>
      </p:sp>
      <p:pic>
        <p:nvPicPr>
          <p:cNvPr id="1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203880" y="2035175"/>
            <a:ext cx="6929533" cy="3473450"/>
          </a:xfrm>
          <a:prstGeom prst="rect">
            <a:avLst/>
          </a:prstGeom>
        </p:spPr>
      </p:pic>
      <p:sp>
        <p:nvSpPr>
          <p:cNvPr id="14" name="Shape 11"/>
          <p:cNvSpPr/>
          <p:nvPr/>
        </p:nvSpPr>
        <p:spPr>
          <a:xfrm>
            <a:off x="7337391" y="762000"/>
            <a:ext cx="4621338" cy="1718667"/>
          </a:xfrm>
          <a:prstGeom prst="roundRect">
            <a:avLst>
              <a:gd name="adj" fmla="val 4718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15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489410" y="1443534"/>
            <a:ext cx="354711" cy="355600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7945467" y="1240334"/>
            <a:ext cx="246397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28 sesiones/mes</a:t>
            </a:r>
            <a:endParaRPr lang="en-US" sz="2394" dirty="0"/>
          </a:p>
        </p:txBody>
      </p:sp>
      <p:sp>
        <p:nvSpPr>
          <p:cNvPr id="17" name="Text 13"/>
          <p:cNvSpPr txBox="1"/>
          <p:nvPr/>
        </p:nvSpPr>
        <p:spPr>
          <a:xfrm>
            <a:off x="7945467" y="1545134"/>
            <a:ext cx="246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Meta Fase 1</a:t>
            </a:r>
            <a:endParaRPr lang="en-US" sz="1496" dirty="0"/>
          </a:p>
        </p:txBody>
      </p:sp>
      <p:sp>
        <p:nvSpPr>
          <p:cNvPr id="18" name="Text 14"/>
          <p:cNvSpPr txBox="1"/>
          <p:nvPr/>
        </p:nvSpPr>
        <p:spPr>
          <a:xfrm>
            <a:off x="7945467" y="1773734"/>
            <a:ext cx="246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64748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~7 sesiones por semana</a:t>
            </a:r>
            <a:endParaRPr lang="en-US" sz="1496" dirty="0"/>
          </a:p>
        </p:txBody>
      </p:sp>
      <p:sp>
        <p:nvSpPr>
          <p:cNvPr id="19" name="Shape 15"/>
          <p:cNvSpPr/>
          <p:nvPr/>
        </p:nvSpPr>
        <p:spPr>
          <a:xfrm>
            <a:off x="7337391" y="2633067"/>
            <a:ext cx="4621338" cy="1718766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7489410" y="3314601"/>
            <a:ext cx="354711" cy="3556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7945467" y="3111401"/>
            <a:ext cx="238796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80 familias</a:t>
            </a:r>
            <a:endParaRPr lang="en-US" sz="2394" dirty="0"/>
          </a:p>
        </p:txBody>
      </p:sp>
      <p:sp>
        <p:nvSpPr>
          <p:cNvPr id="22" name="Text 17"/>
          <p:cNvSpPr txBox="1"/>
          <p:nvPr/>
        </p:nvSpPr>
        <p:spPr>
          <a:xfrm>
            <a:off x="7945467" y="3416201"/>
            <a:ext cx="23879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Meta Fase 2</a:t>
            </a:r>
            <a:endParaRPr lang="en-US" sz="1496" dirty="0"/>
          </a:p>
        </p:txBody>
      </p:sp>
      <p:sp>
        <p:nvSpPr>
          <p:cNvPr id="23" name="Text 18"/>
          <p:cNvSpPr txBox="1"/>
          <p:nvPr/>
        </p:nvSpPr>
        <p:spPr>
          <a:xfrm>
            <a:off x="7945467" y="3644801"/>
            <a:ext cx="238796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64748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Comunidad activa registrada</a:t>
            </a:r>
            <a:endParaRPr lang="en-US" sz="1496" dirty="0"/>
          </a:p>
        </p:txBody>
      </p:sp>
      <p:sp>
        <p:nvSpPr>
          <p:cNvPr id="24" name="Shape 19"/>
          <p:cNvSpPr/>
          <p:nvPr/>
        </p:nvSpPr>
        <p:spPr>
          <a:xfrm>
            <a:off x="7337391" y="4504234"/>
            <a:ext cx="4621338" cy="1718766"/>
          </a:xfrm>
          <a:prstGeom prst="roundRect">
            <a:avLst>
              <a:gd name="adj" fmla="val 471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38100" dist="25400" dir="5400000">
              <a:srgbClr val="000000">
                <a:alpha val="10000"/>
              </a:srgbClr>
            </a:outerShdw>
          </a:effectLst>
        </p:spPr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489410" y="5185767"/>
            <a:ext cx="354711" cy="355600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7945467" y="4982567"/>
            <a:ext cx="2406968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0D1B3E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$28M COP</a:t>
            </a:r>
            <a:endParaRPr lang="en-US" sz="2394" dirty="0"/>
          </a:p>
        </p:txBody>
      </p:sp>
      <p:sp>
        <p:nvSpPr>
          <p:cNvPr id="27" name="Text 21"/>
          <p:cNvSpPr txBox="1"/>
          <p:nvPr/>
        </p:nvSpPr>
        <p:spPr>
          <a:xfrm>
            <a:off x="7945467" y="5287367"/>
            <a:ext cx="240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1E5F8C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Ingresos Año 1</a:t>
            </a:r>
            <a:endParaRPr lang="en-US" sz="1496" dirty="0"/>
          </a:p>
        </p:txBody>
      </p:sp>
      <p:sp>
        <p:nvSpPr>
          <p:cNvPr id="28" name="Text 22"/>
          <p:cNvSpPr txBox="1"/>
          <p:nvPr/>
        </p:nvSpPr>
        <p:spPr>
          <a:xfrm>
            <a:off x="7945467" y="5515967"/>
            <a:ext cx="24069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i="1" dirty="0">
                <a:solidFill>
                  <a:srgbClr val="64748B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Proyección total consolidada</a:t>
            </a:r>
            <a:endParaRPr lang="en-US" sz="1496" dirty="0"/>
          </a:p>
        </p:txBody>
      </p:sp>
      <p:sp>
        <p:nvSpPr>
          <p:cNvPr id="29" name="Shape 23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0" name="Text 24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5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558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304038" y="127000"/>
            <a:ext cx="329374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Impacto e Innovación</a:t>
            </a:r>
            <a:endParaRPr lang="en-US" sz="2394" dirty="0"/>
          </a:p>
        </p:txBody>
      </p:sp>
      <p:sp>
        <p:nvSpPr>
          <p:cNvPr id="4" name="Text 2"/>
          <p:cNvSpPr txBox="1"/>
          <p:nvPr/>
        </p:nvSpPr>
        <p:spPr>
          <a:xfrm>
            <a:off x="10768013" y="165100"/>
            <a:ext cx="108947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A-TENCION</a:t>
            </a:r>
            <a:endParaRPr lang="en-US" sz="1496" dirty="0"/>
          </a:p>
        </p:txBody>
      </p:sp>
      <p:sp>
        <p:nvSpPr>
          <p:cNvPr id="5" name="Shape 3"/>
          <p:cNvSpPr/>
          <p:nvPr/>
        </p:nvSpPr>
        <p:spPr>
          <a:xfrm>
            <a:off x="253365" y="812800"/>
            <a:ext cx="3749802" cy="1875730"/>
          </a:xfrm>
          <a:prstGeom prst="rect">
            <a:avLst/>
          </a:prstGeom>
          <a:solidFill>
            <a:srgbClr val="2BBCD4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1874901" y="1293416"/>
            <a:ext cx="506730" cy="508000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000792" y="1903016"/>
            <a:ext cx="2254949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Impacto Social</a:t>
            </a:r>
            <a:endParaRPr lang="en-US" sz="2394" dirty="0"/>
          </a:p>
        </p:txBody>
      </p:sp>
      <p:sp>
        <p:nvSpPr>
          <p:cNvPr id="8" name="Shape 5"/>
          <p:cNvSpPr/>
          <p:nvPr/>
        </p:nvSpPr>
        <p:spPr>
          <a:xfrm>
            <a:off x="253365" y="2688530"/>
            <a:ext cx="3749802" cy="3483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08076" y="2891730"/>
            <a:ext cx="3192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Familias con acceso a información sensorial</a:t>
            </a:r>
            <a:endParaRPr lang="en-US" sz="1496" dirty="0"/>
          </a:p>
        </p:txBody>
      </p:sp>
      <p:sp>
        <p:nvSpPr>
          <p:cNvPr id="10" name="Text 7"/>
          <p:cNvSpPr txBox="1"/>
          <p:nvPr/>
        </p:nvSpPr>
        <p:spPr>
          <a:xfrm>
            <a:off x="608076" y="3450530"/>
            <a:ext cx="3192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Reducción de barreras para niños con necesidades especiales</a:t>
            </a:r>
            <a:endParaRPr lang="en-US" sz="1496" dirty="0"/>
          </a:p>
        </p:txBody>
      </p:sp>
      <p:sp>
        <p:nvSpPr>
          <p:cNvPr id="11" name="Text 8"/>
          <p:cNvSpPr txBox="1"/>
          <p:nvPr/>
        </p:nvSpPr>
        <p:spPr>
          <a:xfrm>
            <a:off x="608076" y="4009330"/>
            <a:ext cx="3008709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Comunidad de apoyo familiar digital</a:t>
            </a:r>
            <a:endParaRPr lang="en-US" sz="1496" dirty="0"/>
          </a:p>
        </p:txBody>
      </p:sp>
      <p:sp>
        <p:nvSpPr>
          <p:cNvPr id="12" name="Shape 9"/>
          <p:cNvSpPr/>
          <p:nvPr/>
        </p:nvSpPr>
        <p:spPr>
          <a:xfrm>
            <a:off x="4205859" y="812800"/>
            <a:ext cx="3749802" cy="1875730"/>
          </a:xfrm>
          <a:prstGeom prst="rect">
            <a:avLst/>
          </a:prstGeom>
          <a:solidFill>
            <a:srgbClr val="9B7FD4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5827395" y="1064816"/>
            <a:ext cx="506730" cy="508000"/>
          </a:xfrm>
          <a:prstGeom prst="rect">
            <a:avLst/>
          </a:prstGeom>
        </p:spPr>
      </p:pic>
      <p:sp>
        <p:nvSpPr>
          <p:cNvPr id="14" name="Text 10"/>
          <p:cNvSpPr txBox="1"/>
          <p:nvPr/>
        </p:nvSpPr>
        <p:spPr>
          <a:xfrm>
            <a:off x="4408551" y="1674416"/>
            <a:ext cx="3344418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Innovación Tecnológica</a:t>
            </a:r>
            <a:endParaRPr lang="en-US" sz="2394" dirty="0"/>
          </a:p>
        </p:txBody>
      </p:sp>
      <p:sp>
        <p:nvSpPr>
          <p:cNvPr id="15" name="Shape 11"/>
          <p:cNvSpPr/>
          <p:nvPr/>
        </p:nvSpPr>
        <p:spPr>
          <a:xfrm>
            <a:off x="4205859" y="2688530"/>
            <a:ext cx="3749802" cy="3483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560570" y="2891730"/>
            <a:ext cx="3192399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Plataforma OpenFrameworks para experiencias interactivas</a:t>
            </a:r>
            <a:endParaRPr lang="en-US" sz="1496" dirty="0"/>
          </a:p>
        </p:txBody>
      </p:sp>
      <p:sp>
        <p:nvSpPr>
          <p:cNvPr id="17" name="Text 13"/>
          <p:cNvSpPr txBox="1"/>
          <p:nvPr/>
        </p:nvSpPr>
        <p:spPr>
          <a:xfrm>
            <a:off x="4560570" y="3450530"/>
            <a:ext cx="25399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Perfil sensorial digital por niño</a:t>
            </a:r>
            <a:endParaRPr lang="en-US" sz="1496" dirty="0"/>
          </a:p>
        </p:txBody>
      </p:sp>
      <p:sp>
        <p:nvSpPr>
          <p:cNvPr id="18" name="Text 14"/>
          <p:cNvSpPr txBox="1"/>
          <p:nvPr/>
        </p:nvSpPr>
        <p:spPr>
          <a:xfrm>
            <a:off x="4560570" y="3780730"/>
            <a:ext cx="28250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Integración física-digital (phygital)</a:t>
            </a:r>
            <a:endParaRPr lang="en-US" sz="1496" dirty="0"/>
          </a:p>
        </p:txBody>
      </p:sp>
      <p:sp>
        <p:nvSpPr>
          <p:cNvPr id="19" name="Shape 15"/>
          <p:cNvSpPr/>
          <p:nvPr/>
        </p:nvSpPr>
        <p:spPr>
          <a:xfrm>
            <a:off x="8158353" y="812800"/>
            <a:ext cx="3749802" cy="1875730"/>
          </a:xfrm>
          <a:prstGeom prst="rect">
            <a:avLst/>
          </a:prstGeom>
          <a:solidFill>
            <a:srgbClr val="0D1B3E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9779889" y="1293416"/>
            <a:ext cx="506730" cy="508000"/>
          </a:xfrm>
          <a:prstGeom prst="rect">
            <a:avLst/>
          </a:prstGeom>
        </p:spPr>
      </p:pic>
      <p:sp>
        <p:nvSpPr>
          <p:cNvPr id="21" name="Text 16"/>
          <p:cNvSpPr txBox="1"/>
          <p:nvPr/>
        </p:nvSpPr>
        <p:spPr>
          <a:xfrm>
            <a:off x="8747427" y="1903016"/>
            <a:ext cx="2571655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Valor Académico</a:t>
            </a:r>
            <a:endParaRPr lang="en-US" sz="2394" dirty="0"/>
          </a:p>
        </p:txBody>
      </p:sp>
      <p:sp>
        <p:nvSpPr>
          <p:cNvPr id="22" name="Shape 17"/>
          <p:cNvSpPr/>
          <p:nvPr/>
        </p:nvSpPr>
        <p:spPr>
          <a:xfrm>
            <a:off x="8158353" y="2688530"/>
            <a:ext cx="3749802" cy="348367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8513064" y="2891730"/>
            <a:ext cx="294536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Metodología centrada en el usuario</a:t>
            </a:r>
            <a:endParaRPr lang="en-US" sz="1496" dirty="0"/>
          </a:p>
        </p:txBody>
      </p:sp>
      <p:sp>
        <p:nvSpPr>
          <p:cNvPr id="24" name="Text 19"/>
          <p:cNvSpPr txBox="1"/>
          <p:nvPr/>
        </p:nvSpPr>
        <p:spPr>
          <a:xfrm>
            <a:off x="8513064" y="3221930"/>
            <a:ext cx="2780681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Aplicación de UX en salud infantil</a:t>
            </a:r>
            <a:endParaRPr lang="en-US" sz="1496" dirty="0"/>
          </a:p>
        </p:txBody>
      </p:sp>
      <p:sp>
        <p:nvSpPr>
          <p:cNvPr id="25" name="Text 20"/>
          <p:cNvSpPr txBox="1"/>
          <p:nvPr/>
        </p:nvSpPr>
        <p:spPr>
          <a:xfrm>
            <a:off x="8513064" y="3552130"/>
            <a:ext cx="2463975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0D1B3E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Modelo replicable y escalable</a:t>
            </a:r>
            <a:endParaRPr lang="en-US" sz="1496" dirty="0"/>
          </a:p>
        </p:txBody>
      </p:sp>
      <p:sp>
        <p:nvSpPr>
          <p:cNvPr id="26" name="Shape 21"/>
          <p:cNvSpPr/>
          <p:nvPr/>
        </p:nvSpPr>
        <p:spPr>
          <a:xfrm>
            <a:off x="0" y="6426200"/>
            <a:ext cx="12161520" cy="4318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27" name="Text 22"/>
          <p:cNvSpPr txBox="1"/>
          <p:nvPr/>
        </p:nvSpPr>
        <p:spPr>
          <a:xfrm>
            <a:off x="4775930" y="6527800"/>
            <a:ext cx="26096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2BBC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49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18445" b="18445"/>
          <a:stretch/>
        </p:blipFill>
        <p:spPr>
          <a:xfrm>
            <a:off x="0" y="0"/>
            <a:ext cx="6080760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080760" y="0"/>
            <a:ext cx="6080760" cy="6858000"/>
          </a:xfrm>
          <a:prstGeom prst="rect">
            <a:avLst/>
          </a:prstGeom>
          <a:solidFill>
            <a:srgbClr val="0D1B3E"/>
          </a:solidFill>
          <a:ln/>
        </p:spPr>
      </p:sp>
      <p:sp>
        <p:nvSpPr>
          <p:cNvPr id="4" name="Text 1"/>
          <p:cNvSpPr txBox="1"/>
          <p:nvPr/>
        </p:nvSpPr>
        <p:spPr>
          <a:xfrm>
            <a:off x="6384798" y="1905000"/>
            <a:ext cx="5472684" cy="9525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993" b="1" dirty="0">
                <a:solidFill>
                  <a:srgbClr val="FFFFFF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Construyamos juntos el puente</a:t>
            </a:r>
            <a:endParaRPr lang="en-US" sz="2993" dirty="0"/>
          </a:p>
        </p:txBody>
      </p:sp>
      <p:sp>
        <p:nvSpPr>
          <p:cNvPr id="5" name="Text 2"/>
          <p:cNvSpPr txBox="1"/>
          <p:nvPr/>
        </p:nvSpPr>
        <p:spPr>
          <a:xfrm>
            <a:off x="6384798" y="2933700"/>
            <a:ext cx="5472684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394" dirty="0">
                <a:solidFill>
                  <a:srgbClr val="2BBCD4"/>
                </a:solidFill>
                <a:latin typeface="Century Gothic" pitchFamily="34" charset="0"/>
                <a:ea typeface="Century Gothic" pitchFamily="34" charset="-122"/>
                <a:cs typeface="Century Gothic" pitchFamily="34" charset="-120"/>
              </a:rPr>
              <a:t>hacia el bienestar sensorial infantil</a:t>
            </a:r>
            <a:endParaRPr lang="en-US" sz="2394" dirty="0"/>
          </a:p>
        </p:txBody>
      </p:sp>
      <p:sp>
        <p:nvSpPr>
          <p:cNvPr id="6" name="Text 3"/>
          <p:cNvSpPr txBox="1"/>
          <p:nvPr/>
        </p:nvSpPr>
        <p:spPr>
          <a:xfrm>
            <a:off x="6384798" y="3314700"/>
            <a:ext cx="5472684" cy="254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95" i="1" dirty="0">
                <a:solidFill>
                  <a:srgbClr val="9B7FD4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Tecnología Interactiva Inclusiva</a:t>
            </a:r>
            <a:endParaRPr lang="en-US" sz="1795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7844814" y="3733800"/>
            <a:ext cx="202692" cy="20320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148852" y="3721100"/>
            <a:ext cx="224861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contacto@atencion.com.co</a:t>
            </a:r>
            <a:endParaRPr lang="en-US" sz="1496" dirty="0"/>
          </a:p>
        </p:txBody>
      </p:sp>
      <p:sp>
        <p:nvSpPr>
          <p:cNvPr id="9" name="Shape 5"/>
          <p:cNvSpPr/>
          <p:nvPr/>
        </p:nvSpPr>
        <p:spPr>
          <a:xfrm>
            <a:off x="7499604" y="4025900"/>
            <a:ext cx="3243072" cy="6350"/>
          </a:xfrm>
          <a:prstGeom prst="rect">
            <a:avLst/>
          </a:prstGeom>
          <a:solidFill>
            <a:srgbClr val="2BBCD4"/>
          </a:solidFill>
          <a:ln/>
        </p:spPr>
      </p:sp>
      <p:sp>
        <p:nvSpPr>
          <p:cNvPr id="10" name="Text 6"/>
          <p:cNvSpPr txBox="1"/>
          <p:nvPr/>
        </p:nvSpPr>
        <p:spPr>
          <a:xfrm>
            <a:off x="8433887" y="4108450"/>
            <a:ext cx="1678543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@atencion.sensorial</a:t>
            </a:r>
            <a:endParaRPr lang="en-US" sz="1496" dirty="0"/>
          </a:p>
        </p:txBody>
      </p:sp>
      <p:sp>
        <p:nvSpPr>
          <p:cNvPr id="11" name="Shape 7"/>
          <p:cNvSpPr/>
          <p:nvPr/>
        </p:nvSpPr>
        <p:spPr>
          <a:xfrm>
            <a:off x="7499604" y="4413250"/>
            <a:ext cx="3243072" cy="6350"/>
          </a:xfrm>
          <a:prstGeom prst="rect">
            <a:avLst/>
          </a:prstGeom>
          <a:solidFill>
            <a:srgbClr val="2BBCD4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8057007" y="4508500"/>
            <a:ext cx="202692" cy="203200"/>
          </a:xfrm>
          <a:prstGeom prst="rect">
            <a:avLst/>
          </a:prstGeom>
        </p:spPr>
      </p:pic>
      <p:sp>
        <p:nvSpPr>
          <p:cNvPr id="13" name="Text 8"/>
          <p:cNvSpPr txBox="1"/>
          <p:nvPr/>
        </p:nvSpPr>
        <p:spPr>
          <a:xfrm>
            <a:off x="8361045" y="4495800"/>
            <a:ext cx="182422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www.atencion.com.co</a:t>
            </a:r>
            <a:endParaRPr lang="en-US" sz="1496" dirty="0"/>
          </a:p>
        </p:txBody>
      </p:sp>
      <p:sp>
        <p:nvSpPr>
          <p:cNvPr id="14" name="Shape 9"/>
          <p:cNvSpPr/>
          <p:nvPr/>
        </p:nvSpPr>
        <p:spPr>
          <a:xfrm>
            <a:off x="7901821" y="4876800"/>
            <a:ext cx="2438638" cy="381000"/>
          </a:xfrm>
          <a:prstGeom prst="roundRect">
            <a:avLst>
              <a:gd name="adj" fmla="val 79992000"/>
            </a:avLst>
          </a:prstGeom>
          <a:solidFill>
            <a:srgbClr val="9B7FD4"/>
          </a:solidFill>
          <a:ln/>
        </p:spPr>
      </p:sp>
      <p:sp>
        <p:nvSpPr>
          <p:cNvPr id="15" name="Text 10"/>
          <p:cNvSpPr txBox="1"/>
          <p:nvPr/>
        </p:nvSpPr>
        <p:spPr>
          <a:xfrm>
            <a:off x="8104513" y="4953000"/>
            <a:ext cx="203325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96" b="1" dirty="0">
                <a:solidFill>
                  <a:srgbClr val="FFFFFF"/>
                </a:solidFill>
                <a:latin typeface="Corbel" pitchFamily="34" charset="0"/>
                <a:ea typeface="Corbel" pitchFamily="34" charset="-122"/>
                <a:cs typeface="Corbel" pitchFamily="34" charset="-120"/>
              </a:rPr>
              <a:t>Proyecto de Grado 2025</a:t>
            </a:r>
            <a:endParaRPr lang="en-US" sz="1496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2026-03-26T14:18:23Z</dcterms:created>
  <dcterms:modified xsi:type="dcterms:W3CDTF">2026-03-26T14:18:23Z</dcterms:modified>
</cp:coreProperties>
</file>